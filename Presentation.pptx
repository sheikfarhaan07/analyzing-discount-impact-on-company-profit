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Sales and profit by discount band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1BA199"/>
            </a:solidFill>
            <a:ln>
              <a:solidFill>
                <a:srgbClr val="1BA199"/>
              </a:solidFill>
            </a:ln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0–10%</c:v>
                </c:pt>
                <c:pt idx="1">
                  <c:v>10–20%</c:v>
                </c:pt>
                <c:pt idx="2">
                  <c:v>20–30%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16147223.3</c:v>
                </c:pt>
                <c:pt idx="1">
                  <c:v>6770284.8</c:v>
                </c:pt>
                <c:pt idx="2">
                  <c:v>2085255.36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235B96"/>
            </a:solidFill>
            <a:ln>
              <a:solidFill>
                <a:srgbClr val="235B96"/>
              </a:solidFill>
            </a:ln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0–10%</c:v>
                </c:pt>
                <c:pt idx="1">
                  <c:v>10–20%</c:v>
                </c:pt>
                <c:pt idx="2">
                  <c:v>20–30%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4355930.45</c:v>
                </c:pt>
                <c:pt idx="1">
                  <c:v>1027426.57</c:v>
                </c:pt>
                <c:pt idx="2">
                  <c:v>208907.09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7cb325b-b2d1-4cad-94d4-0cce06e77a3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Profit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1BA199"/>
            </a:solidFill>
            <a:ln>
              <a:solidFill>
                <a:srgbClr val="1BA199"/>
              </a:solidFill>
            </a:ln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739680.92</c:v>
                </c:pt>
                <c:pt idx="1">
                  <c:v>823148.14</c:v>
                </c:pt>
                <c:pt idx="2">
                  <c:v>1173891.35</c:v>
                </c:pt>
                <c:pt idx="3">
                  <c:v>1551180.36</c:v>
                </c:pt>
                <c:pt idx="4">
                  <c:v>1304363.34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ac554d7-30da-45fe-9695-412c4095382b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Profit by product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1BA199"/>
            </a:solidFill>
            <a:ln>
              <a:solidFill>
                <a:srgbClr val="1BA199"/>
              </a:solidFill>
            </a:ln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Beauty &amp; Personal Care</c:v>
                </c:pt>
                <c:pt idx="1">
                  <c:v>Clothing</c:v>
                </c:pt>
                <c:pt idx="2">
                  <c:v>Electronics</c:v>
                </c:pt>
                <c:pt idx="3">
                  <c:v>Furniture</c:v>
                </c:pt>
                <c:pt idx="4">
                  <c:v>Home Appliances</c:v>
                </c:pt>
                <c:pt idx="5">
                  <c:v>Office Supplies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378089.25</c:v>
                </c:pt>
                <c:pt idx="1">
                  <c:v>613681.839999999</c:v>
                </c:pt>
                <c:pt idx="2">
                  <c:v>1136830.59</c:v>
                </c:pt>
                <c:pt idx="3">
                  <c:v>1254779.19</c:v>
                </c:pt>
                <c:pt idx="4">
                  <c:v>821847.47</c:v>
                </c:pt>
                <c:pt idx="5">
                  <c:v>150702.11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977fdb4-e298-4957-b7c0-48c211707660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Monthly sales and profit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ln w="28575" cap="rnd" cmpd="sng" algn="ctr">
              <a:solidFill>
                <a:srgbClr val="1BA199"/>
              </a:solidFill>
              <a:prstDash val="solid"/>
              <a:round/>
            </a:ln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1926915.84</c:v>
                </c:pt>
                <c:pt idx="1">
                  <c:v>1895508.36</c:v>
                </c:pt>
                <c:pt idx="2">
                  <c:v>2513205.98</c:v>
                </c:pt>
                <c:pt idx="3">
                  <c:v>1699823.06</c:v>
                </c:pt>
                <c:pt idx="4">
                  <c:v>1780396.31</c:v>
                </c:pt>
                <c:pt idx="5">
                  <c:v>2251063.51</c:v>
                </c:pt>
                <c:pt idx="6">
                  <c:v>2298692.5</c:v>
                </c:pt>
                <c:pt idx="7">
                  <c:v>2039425.78</c:v>
                </c:pt>
                <c:pt idx="8">
                  <c:v>2500793.18</c:v>
                </c:pt>
                <c:pt idx="9">
                  <c:v>2315977.21</c:v>
                </c:pt>
                <c:pt idx="10">
                  <c:v>1886240.1</c:v>
                </c:pt>
                <c:pt idx="11">
                  <c:v>1894721.63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(₹)</c:v>
                </c:pt>
              </c:strCache>
            </c:strRef>
          </c:tx>
          <c:spPr>
            <a:ln w="28575" cap="rnd" cmpd="sng" algn="ctr">
              <a:solidFill>
                <a:srgbClr val="235B96"/>
              </a:solidFill>
              <a:prstDash val="solid"/>
              <a:round/>
            </a:ln>
          </c:spPr>
          <c:dLbls>
            <c:delete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481376.66</c:v>
                </c:pt>
                <c:pt idx="1">
                  <c:v>440772.51</c:v>
                </c:pt>
                <c:pt idx="2">
                  <c:v>601653.88</c:v>
                </c:pt>
                <c:pt idx="3">
                  <c:v>411578.34</c:v>
                </c:pt>
                <c:pt idx="4">
                  <c:v>365964.96</c:v>
                </c:pt>
                <c:pt idx="5">
                  <c:v>577098.36</c:v>
                </c:pt>
                <c:pt idx="6">
                  <c:v>459786.14</c:v>
                </c:pt>
                <c:pt idx="7">
                  <c:v>495839.92</c:v>
                </c:pt>
                <c:pt idx="8">
                  <c:v>473314.96</c:v>
                </c:pt>
                <c:pt idx="9">
                  <c:v>483853.42</c:v>
                </c:pt>
                <c:pt idx="10">
                  <c:v>384820.56</c:v>
                </c:pt>
                <c:pt idx="11">
                  <c:v>416204.4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dbb5120-9302-449f-b2f1-4445a64bca9f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Profit by discount band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1BA199"/>
            </a:solidFill>
            <a:ln>
              <a:solidFill>
                <a:srgbClr val="1BA199"/>
              </a:solidFill>
            </a:ln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0–10%</c:v>
                </c:pt>
                <c:pt idx="1">
                  <c:v>10–20%</c:v>
                </c:pt>
                <c:pt idx="2">
                  <c:v>20–30%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4355930.45</c:v>
                </c:pt>
                <c:pt idx="1">
                  <c:v>1027426.57</c:v>
                </c:pt>
                <c:pt idx="2">
                  <c:v>208907.09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6a5162b1-9030-49d6-9784-0d74061f36e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Profit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1BA199"/>
            </a:solidFill>
            <a:ln>
              <a:solidFill>
                <a:srgbClr val="1BA199"/>
              </a:solidFill>
            </a:ln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739680.92</c:v>
                </c:pt>
                <c:pt idx="1">
                  <c:v>823148.14</c:v>
                </c:pt>
                <c:pt idx="2">
                  <c:v>1173891.35</c:v>
                </c:pt>
                <c:pt idx="3">
                  <c:v>1551180.36</c:v>
                </c:pt>
                <c:pt idx="4">
                  <c:v>1304363.34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65944d1-3a47-40d4-9a17-9c05b4d54600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548640"/>
            <a:ext cx="2377440" cy="2377440"/>
          </a:xfrm>
          <a:prstGeom prst="ellipse">
            <a:avLst/>
          </a:prstGeom>
          <a:solidFill>
            <a:srgbClr val="23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3017520"/>
            <a:ext cx="1554480" cy="1554480"/>
          </a:xfrm>
          <a:prstGeom prst="ellipse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4023360"/>
            <a:ext cx="914400" cy="914400"/>
          </a:xfrm>
          <a:prstGeom prst="ellipse">
            <a:avLst/>
          </a:prstGeom>
          <a:solidFill>
            <a:srgbClr val="EB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86384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ANALYZING DISCOUNT</a:t>
            </a:r>
            <a:br/>
            <a:r>
              <a:t>IMPACT ON COMPANY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7040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BED6EA"/>
                </a:solidFill>
                <a:latin typeface="Aptos"/>
              </a:defRPr>
            </a:pPr>
            <a:r>
              <a:t>A data-driven study using an Excel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3566160"/>
            <a:ext cx="1051560" cy="54864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ED6EA"/>
                </a:solidFill>
                <a:latin typeface="Aptos"/>
              </a:defRPr>
            </a:pPr>
            <a:r>
              <a:t>Prepared by: Sheik Farhaan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36208"/>
            <a:ext cx="5669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BED6EA"/>
                </a:solidFill>
                <a:latin typeface="Aptos"/>
              </a:defRPr>
            </a:pPr>
            <a:r>
              <a:t>B.Com Final Year | Aspiring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Why discount effectiveness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45720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35B96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9377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63240"/>
                </a:solidFill>
                <a:latin typeface="Aptos"/>
              </a:defRPr>
            </a:pPr>
            <a:r>
              <a:t>Discounts can attract customers and increase sales, but they also reduce the amount earned per sale. The key question is whether extra sales compensate for the reduced margin.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35B96"/>
                </a:solidFill>
                <a:latin typeface="Aptos"/>
              </a:defRPr>
            </a:pPr>
            <a:r>
              <a:t>Project 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48463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63240"/>
                </a:solidFill>
                <a:latin typeface="Aptos"/>
              </a:defRPr>
            </a:pPr>
            <a:r>
              <a:t>Analyze how different discount levels relate to sales and profit, then identify discount ranges that appear more profitable in this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42416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240"/>
                </a:solidFill>
                <a:latin typeface="Aptos"/>
              </a:defRPr>
            </a:pPr>
            <a:r>
              <a:t>Focus on profit—not sales alone</a:t>
            </a:r>
          </a:p>
          <a:p>
            <a:pPr>
              <a:spcAft>
                <a:spcPts val="1200"/>
              </a:spcAft>
              <a:defRPr sz="1600">
                <a:solidFill>
                  <a:srgbClr val="263240"/>
                </a:solidFill>
                <a:latin typeface="Aptos"/>
              </a:defRPr>
            </a:pPr>
            <a:r>
              <a:t>Compare discount bands, regions, categories and monthly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263240"/>
                </a:solidFill>
                <a:latin typeface="Aptos"/>
              </a:defRPr>
            </a:pPr>
            <a:r>
              <a:t>Use the Excel dashboard to explore results interactively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ANALYZING DISCOUNT IMPACT ON COMPANY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"/>
              </a:defRPr>
            </a:pPr>
            <a:r>
              <a:t>Objectives &amp; Key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analysis is designed to support better discount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45720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63240"/>
                </a:solidFill>
                <a:latin typeface="Aptos"/>
              </a:defRPr>
            </a:pPr>
            <a:r>
              <a:t>Understand the relationship between discount percentage and profit.</a:t>
            </a:r>
          </a:p>
          <a:p>
            <a:pPr>
              <a:spcAft>
                <a:spcPts val="1800"/>
              </a:spcAft>
              <a:defRPr sz="1800">
                <a:solidFill>
                  <a:srgbClr val="263240"/>
                </a:solidFill>
                <a:latin typeface="Aptos"/>
              </a:defRPr>
            </a:pPr>
            <a:r>
              <a:t>Compare sales and profit across low, medium and high discount ranges.</a:t>
            </a:r>
          </a:p>
          <a:p>
            <a:pPr>
              <a:spcAft>
                <a:spcPts val="1800"/>
              </a:spcAft>
              <a:defRPr sz="1800">
                <a:solidFill>
                  <a:srgbClr val="263240"/>
                </a:solidFill>
                <a:latin typeface="Aptos"/>
              </a:defRPr>
            </a:pPr>
            <a:r>
              <a:t>Identify categories and regions contributing most to profit.</a:t>
            </a:r>
          </a:p>
          <a:p>
            <a:pPr>
              <a:spcAft>
                <a:spcPts val="1800"/>
              </a:spcAft>
              <a:defRPr sz="1800">
                <a:solidFill>
                  <a:srgbClr val="263240"/>
                </a:solidFill>
                <a:latin typeface="Aptos"/>
              </a:defRPr>
            </a:pPr>
            <a:r>
              <a:t>Review monthly sales and profit patterns.</a:t>
            </a:r>
          </a:p>
          <a:p>
            <a:pPr>
              <a:spcAft>
                <a:spcPts val="1800"/>
              </a:spcAft>
              <a:defRPr sz="1800">
                <a:solidFill>
                  <a:srgbClr val="263240"/>
                </a:solidFill>
                <a:latin typeface="Aptos"/>
              </a:defRPr>
            </a:pPr>
            <a:r>
              <a:t>Recommend practical ways to protect profit while using promotions.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ANALYZING DISCOUNT IMPACT ON COMPANY PROFIT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"/>
              </a:defRPr>
            </a:pPr>
            <a:r>
              <a:t>Dataset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Source: Final Dashboard.xlsx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45720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103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64792"/>
            <a:ext cx="177393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84832"/>
            <a:ext cx="17739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59736"/>
            <a:ext cx="17739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Order-level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645920"/>
            <a:ext cx="2103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764792"/>
            <a:ext cx="177393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TIME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084832"/>
            <a:ext cx="17739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2023–2025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459736"/>
            <a:ext cx="17739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Three calendar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645920"/>
            <a:ext cx="2103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1764792"/>
            <a:ext cx="177393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084832"/>
            <a:ext cx="17739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2459736"/>
            <a:ext cx="17739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Across multiple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645920"/>
            <a:ext cx="21031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1" y="1764792"/>
            <a:ext cx="177393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2084832"/>
            <a:ext cx="17739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2459736"/>
            <a:ext cx="17739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Central, East, North, South, West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461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235B96"/>
                </a:solidFill>
                <a:latin typeface="Aptos"/>
              </a:defRPr>
            </a:pPr>
            <a:r>
              <a:t>Fields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11880"/>
            <a:ext cx="47548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63240"/>
                </a:solidFill>
                <a:latin typeface="Aptos"/>
              </a:defRPr>
            </a:pPr>
            <a:r>
              <a:t>Order date, product/category, region, sales, cost of products, profit, discount %, and quantity sold.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246120"/>
            <a:ext cx="2468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235B96"/>
                </a:solidFill>
                <a:latin typeface="Aptos"/>
              </a:defRPr>
            </a:pPr>
            <a:r>
              <a:t>Analysis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611880"/>
            <a:ext cx="49377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3240"/>
                </a:solidFill>
                <a:latin typeface="Aptos"/>
              </a:defRPr>
            </a:pPr>
            <a:r>
              <a:t>Summarize KPIs and group records by discount band</a:t>
            </a:r>
          </a:p>
          <a:p>
            <a:pPr>
              <a:spcAft>
                <a:spcPts val="1200"/>
              </a:spcAft>
              <a:defRPr sz="1400">
                <a:solidFill>
                  <a:srgbClr val="263240"/>
                </a:solidFill>
                <a:latin typeface="Aptos"/>
              </a:defRPr>
            </a:pPr>
            <a:r>
              <a:t>Compare category/region totals and monthly trends</a:t>
            </a:r>
          </a:p>
          <a:p>
            <a:pPr>
              <a:spcAft>
                <a:spcPts val="1200"/>
              </a:spcAft>
              <a:defRPr sz="1400">
                <a:solidFill>
                  <a:srgbClr val="263240"/>
                </a:solidFill>
                <a:latin typeface="Aptos"/>
              </a:defRPr>
            </a:pPr>
            <a:r>
              <a:t>Use charts and slicers to filter the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Calculation used: Profit = Sales − Cost of products. Results describe patterns in this dataset and do not prove that discount alone caused changes in profit.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ANALYZING DISCOUNT IMPACT ON COMPANY PROFIT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"/>
              </a:defRPr>
            </a:pPr>
            <a:r>
              <a:t>Overall Business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Headline figures from the final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45720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146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21854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30552"/>
            <a:ext cx="218541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₹25.00M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88336"/>
            <a:ext cx="21854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Across 2,000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5146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10512"/>
            <a:ext cx="21854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130552"/>
            <a:ext cx="218541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₹5.59M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688336"/>
            <a:ext cx="21854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Profit margin: 22.4%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91640"/>
            <a:ext cx="25146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810512"/>
            <a:ext cx="21854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AVERAGE DISCOUNT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130552"/>
            <a:ext cx="218541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11.5%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688336"/>
            <a:ext cx="21854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Mean discount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91640"/>
            <a:ext cx="25146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1810512"/>
            <a:ext cx="21854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QUANTITY SOLD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130552"/>
            <a:ext cx="218541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5,964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688336"/>
            <a:ext cx="21854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ptos"/>
              </a:defRPr>
            </a:pPr>
            <a:r>
              <a:t>Units recorded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49039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35B96"/>
                </a:solidFill>
                <a:latin typeface="Aptos"/>
              </a:defRPr>
            </a:pPr>
            <a:r>
              <a:t>What this tells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1042416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240"/>
                </a:solidFill>
                <a:latin typeface="Aptos"/>
              </a:defRPr>
            </a:pPr>
            <a:r>
              <a:t>The business generated about ₹25.00 million in sales and ₹5.59 million in profit.</a:t>
            </a:r>
          </a:p>
          <a:p>
            <a:pPr>
              <a:spcAft>
                <a:spcPts val="1200"/>
              </a:spcAft>
              <a:defRPr sz="1600">
                <a:solidFill>
                  <a:srgbClr val="263240"/>
                </a:solidFill>
                <a:latin typeface="Aptos"/>
              </a:defRPr>
            </a:pPr>
            <a:r>
              <a:t>Overall profit margin is approximately 22.4% of sales.</a:t>
            </a:r>
          </a:p>
          <a:p>
            <a:pPr>
              <a:spcAft>
                <a:spcPts val="1200"/>
              </a:spcAft>
              <a:defRPr sz="1600">
                <a:solidFill>
                  <a:srgbClr val="263240"/>
                </a:solidFill>
                <a:latin typeface="Aptos"/>
              </a:defRPr>
            </a:pPr>
            <a:r>
              <a:t>The average discount is about 11.5%, so most activity sits in the low-to-moderate discount range.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ANALYZING DISCOUNT IMPACT ON COMPANY PROFIT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"/>
              </a:defRPr>
            </a:pPr>
            <a:r>
              <a:t>Discount Range vs Sales &amp; Profit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central finding: the lowest discount band contributes the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45720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50876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79" y="169164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35B96"/>
                </a:solidFill>
                <a:latin typeface="Aptos"/>
              </a:defRPr>
            </a:pPr>
            <a:r>
              <a:t>Key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148840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BA199"/>
                </a:solidFill>
                <a:latin typeface="Aptos"/>
              </a:defRPr>
            </a:pPr>
            <a:r>
              <a:t>0–10% discount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14600"/>
            <a:ext cx="3108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12340"/>
                </a:solidFill>
                <a:latin typeface="Aptos"/>
              </a:defRPr>
            </a:pPr>
            <a:r>
              <a:t>₹16.15M sales</a:t>
            </a:r>
            <a:br/>
            <a:r>
              <a:t>₹4.36M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520440"/>
            <a:ext cx="33832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63240"/>
                </a:solidFill>
                <a:latin typeface="Aptos"/>
              </a:defRPr>
            </a:pPr>
            <a:r>
              <a:t>This band contributes about 78% of total profit. Profit drops sharply as the discount range increases.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074920"/>
            <a:ext cx="3383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Aptos"/>
              </a:defRPr>
            </a:pPr>
            <a:r>
              <a:t>Takeaway: higher discounts are not automatically more profitable.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ANALYZING DISCOUNT IMPACT ON COMPANY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"/>
              </a:defRPr>
            </a:pPr>
            <a:r>
              <a:t>Regional &amp; Category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Profit contributions differ across business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45720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554480"/>
          <a:ext cx="53035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554480"/>
          <a:ext cx="52120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9788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35B96"/>
                </a:solidFill>
                <a:latin typeface="Aptos"/>
              </a:defRPr>
            </a:pPr>
            <a:r>
              <a:t>South is the strongest region by profit (about ₹1.55M).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589788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35B96"/>
                </a:solidFill>
                <a:latin typeface="Aptos"/>
              </a:defRPr>
            </a:pPr>
            <a:r>
              <a:t>Electronics and Furniture are the largest category profit contributors.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ANALYZING DISCOUNT IMPACT ON COMPANY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"/>
              </a:defRPr>
            </a:pPr>
            <a:r>
              <a:t>Monthly Sales &amp; Profit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Monthly totals from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45720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50876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73736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35B96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194560"/>
            <a:ext cx="29260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63240"/>
                </a:solidFill>
                <a:latin typeface="Aptos"/>
              </a:defRPr>
            </a:pPr>
            <a:r>
              <a:t>Sales and profit fluctuate month to month. This suggests performance should be monitored over time rather than judging a promotion from a single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206240"/>
            <a:ext cx="29260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Aptos"/>
              </a:defRPr>
            </a:pPr>
            <a:r>
              <a:t>Next step: compare monthly trends with discount activity and seasonality.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ANALYZING DISCOUNT IMPACT ON COMPANY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"/>
              </a:defRPr>
            </a:pPr>
            <a:r>
              <a:t>Final Excel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A single view for exploring the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45720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94944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12340"/>
                </a:solidFill>
                <a:latin typeface="Aptos"/>
              </a:defRPr>
            </a:pPr>
            <a:r>
              <a:t>DISCOUNT IMPACT ON PROFIT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48840"/>
            <a:ext cx="15087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11795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87752"/>
            <a:ext cx="11795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₹25.0M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148840"/>
            <a:ext cx="15087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2267712"/>
            <a:ext cx="11795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2587752"/>
            <a:ext cx="11795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₹5.6M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48840"/>
            <a:ext cx="150876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267712"/>
            <a:ext cx="11795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AVG DISCOUNT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87752"/>
            <a:ext cx="11795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11.5%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148840"/>
            <a:ext cx="14173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2267712"/>
            <a:ext cx="108813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2587752"/>
            <a:ext cx="108813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112340"/>
                </a:solidFill>
                <a:latin typeface="Aptos"/>
              </a:defRPr>
            </a:pPr>
            <a:r>
              <a:t>5,964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960120" y="3246120"/>
          <a:ext cx="3108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251960" y="3246120"/>
          <a:ext cx="31546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092440" y="173736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35B96"/>
                </a:solidFill>
                <a:latin typeface="Aptos"/>
              </a:defRPr>
            </a:pPr>
            <a:r>
              <a:t>Dashboard controls &amp; visuals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194560"/>
            <a:ext cx="34747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3240"/>
                </a:solidFill>
                <a:latin typeface="Aptos"/>
              </a:defRPr>
            </a:pPr>
            <a:r>
              <a:t>KPIs: sales, profit, average discount and quantity</a:t>
            </a:r>
          </a:p>
          <a:p>
            <a:pPr>
              <a:spcAft>
                <a:spcPts val="1200"/>
              </a:spcAft>
              <a:defRPr sz="1400">
                <a:solidFill>
                  <a:srgbClr val="263240"/>
                </a:solidFill>
                <a:latin typeface="Aptos"/>
              </a:defRPr>
            </a:pPr>
            <a:r>
              <a:t>Discount-range sales/profit comparison</a:t>
            </a:r>
          </a:p>
          <a:p>
            <a:pPr>
              <a:spcAft>
                <a:spcPts val="1200"/>
              </a:spcAft>
              <a:defRPr sz="1400">
                <a:solidFill>
                  <a:srgbClr val="263240"/>
                </a:solidFill>
                <a:latin typeface="Aptos"/>
              </a:defRPr>
            </a:pPr>
            <a:r>
              <a:t>Category-wise and region-wise breakdowns</a:t>
            </a:r>
          </a:p>
          <a:p>
            <a:pPr>
              <a:spcAft>
                <a:spcPts val="1200"/>
              </a:spcAft>
              <a:defRPr sz="1400">
                <a:solidFill>
                  <a:srgbClr val="263240"/>
                </a:solidFill>
                <a:latin typeface="Aptos"/>
              </a:defRPr>
            </a:pPr>
            <a:r>
              <a:t>Monthly trend charts</a:t>
            </a:r>
          </a:p>
          <a:p>
            <a:pPr>
              <a:spcAft>
                <a:spcPts val="1200"/>
              </a:spcAft>
              <a:defRPr sz="1400">
                <a:solidFill>
                  <a:srgbClr val="263240"/>
                </a:solidFill>
                <a:latin typeface="Aptos"/>
              </a:defRPr>
            </a:pPr>
            <a:r>
              <a:t>Slicers: year, month, region, category and 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349240"/>
            <a:ext cx="32918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Use slicers to answer focused questions—for example, how a discount band performs in a selected region or category.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ANALYZING DISCOUNT IMPACT ON COMPANY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What the analysis suggests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914400" cy="45720"/>
          </a:xfrm>
          <a:prstGeom prst="rect">
            <a:avLst/>
          </a:prstGeom>
          <a:solidFill>
            <a:srgbClr val="1BA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112340"/>
                </a:solidFill>
                <a:latin typeface="Aptos"/>
              </a:defRPr>
            </a:pPr>
            <a:r>
              <a:t>The dashboard indicates that lower discounts are associated with stronger overall profitability in this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240"/>
                </a:solidFill>
                <a:latin typeface="Aptos"/>
              </a:defRPr>
            </a:pPr>
            <a:r>
              <a:t>The 0–10% discount range generated the highest sales and profit totals.</a:t>
            </a:r>
          </a:p>
          <a:p>
            <a:pPr>
              <a:spcAft>
                <a:spcPts val="1200"/>
              </a:spcAft>
              <a:defRPr sz="1700">
                <a:solidFill>
                  <a:srgbClr val="263240"/>
                </a:solidFill>
                <a:latin typeface="Aptos"/>
              </a:defRPr>
            </a:pPr>
            <a:r>
              <a:t>Profit contribution declines substantially in the 10–20% and 20–30% ranges.</a:t>
            </a:r>
          </a:p>
          <a:p>
            <a:pPr>
              <a:spcAft>
                <a:spcPts val="1200"/>
              </a:spcAft>
              <a:defRPr sz="1700">
                <a:solidFill>
                  <a:srgbClr val="263240"/>
                </a:solidFill>
                <a:latin typeface="Aptos"/>
              </a:defRPr>
            </a:pPr>
            <a:r>
              <a:t>South is the top region by profit; Electronics and Furniture are leading category contributors.</a:t>
            </a:r>
          </a:p>
          <a:p>
            <a:pPr>
              <a:spcAft>
                <a:spcPts val="1200"/>
              </a:spcAft>
              <a:defRPr sz="1700">
                <a:solidFill>
                  <a:srgbClr val="263240"/>
                </a:solidFill>
                <a:latin typeface="Aptos"/>
              </a:defRPr>
            </a:pPr>
            <a:r>
              <a:t>Discount decisions should balance sales growth with margin protection.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Important: the results show association, not proof of causation. Product costs, demand, seasonality and product mix may also influence profit.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37960"/>
            <a:ext cx="8686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ANALYZING DISCOUNT IMPACT ON COMPANY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4506</Words>
  <Application>WPS Presentation</Application>
  <PresentationFormat>On-screen Show (4:3)</PresentationFormat>
  <Paragraphs>223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sheik</cp:lastModifiedBy>
  <cp:revision>2</cp:revision>
  <dcterms:created xsi:type="dcterms:W3CDTF">2013-01-27T09:14:00Z</dcterms:created>
  <dcterms:modified xsi:type="dcterms:W3CDTF">2026-10-25T15:20:35Z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28485FCAB62C461DBFF8DE781CC714BE_12</vt:lpwstr>
  </property>
</Properties>
</file>